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0" r:id="rId6"/>
    <p:sldId id="261" r:id="rId7"/>
    <p:sldId id="267" r:id="rId8"/>
    <p:sldId id="268" r:id="rId9"/>
    <p:sldId id="269" r:id="rId10"/>
    <p:sldId id="262" r:id="rId11"/>
    <p:sldId id="263" r:id="rId12"/>
    <p:sldId id="264" r:id="rId13"/>
    <p:sldId id="265" r:id="rId14"/>
    <p:sldId id="266" r:id="rId15"/>
    <p:sldId id="271" r:id="rId16"/>
  </p:sldIdLst>
  <p:sldSz cx="14630400" cy="8229600"/>
  <p:notesSz cx="8229600" cy="14630400"/>
  <p:embeddedFontLst>
    <p:embeddedFont>
      <p:font typeface="Gelasio" panose="020B0600000101010101" charset="0"/>
      <p:regular r:id="rId18"/>
    </p:embeddedFont>
    <p:embeddedFont>
      <p:font typeface="Gelasio Semi Bold" panose="020B0600000101010101" charset="0"/>
      <p:regular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8" y="1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80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E14AC-4A01-9AF6-EC4B-8CCA0D79E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A17B6-9B6F-9516-A1B7-D4AA06674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23507-4CD1-8AAF-5616-C25AB4DBC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69942-E77B-0943-F59C-C1E1103F77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01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89D4-10CA-64AA-D46D-65D6B8B48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2ABD4-8A29-0869-109F-AE47BC786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2107B-B93D-206E-0D10-3A0FF7D06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9697B-90D1-B9D7-D5F5-5EBFB7D1B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72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7C383-CFA3-90F6-F66D-24D5AF94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0CE1C-FBF4-5B95-3FF9-4D08FB153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F6972-191F-1359-F63D-BD229BDF4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C853F-74A4-3D45-833E-09F1A34C1A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47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AEEE8-B210-0567-297B-F7D3F035F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92F864-53E2-527F-87B6-4EC58BD33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A05F6-A55E-BCA5-CE68-31553A1ED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1E805-5D53-2AEE-67F5-82088DF26C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24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11" Type="http://schemas.openxmlformats.org/officeDocument/2006/relationships/image" Target="../media/image3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640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통신사 고객 이탈 예측 및 이익 최적화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2173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데이터 사이언스와 경영 의사결정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93978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강성준 (경영학과, 2022314048)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유서현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(인공지능융합학과, 2024314636)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이형준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(글로벌경제학과, 2020310088)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31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목차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5607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303973" y="19956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연구 배경 및 목적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03973" y="2486025"/>
            <a:ext cx="125326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연구의 필요성과 주요 목표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1133951" y="3075742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644134" y="3075742"/>
            <a:ext cx="28485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데이터 셋 소개 &amp; 전처리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4134" y="3566160"/>
            <a:ext cx="121924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데이터 구성과 전처리 과정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474232" y="4155877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984415" y="41558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모델 구축 및 튜닝 전략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84415" y="4646295"/>
            <a:ext cx="118521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알고리즘 선택과 최적화 방법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814513" y="5236012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324695" y="5236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실험 결과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24695" y="5726430"/>
            <a:ext cx="115119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모델 성능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1474232" y="6316147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984415" y="63161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경영학적 이익 함수 설계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84415" y="6806565"/>
            <a:ext cx="118521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이익 최적화를 위한 모델 튜닝과 비즈니스 임팩트</a:t>
            </a:r>
            <a:endParaRPr lang="en-US" sz="175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9C5CF07-1243-50EE-A096-18CE99627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4982" y="6225421"/>
            <a:ext cx="3305636" cy="20005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475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연구 배경 및 목적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09645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2138958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2174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고객 획득 비용 증가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266473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통신사 고객 획득 비용 상승, 이탈 시 LTV 손실 막대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60" y="3523774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0906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기존 캠페인 한계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530906" y="404955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대상 선정 부정확으로 낮은 ROI 발생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4908590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4943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머신러닝 활용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530906" y="543437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고위험 고객 선별로 맞춤 캠페인 진행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793790" y="625090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860" y="6293406"/>
            <a:ext cx="340162" cy="4252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530906" y="6328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목표 설정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1530906" y="681918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분류 정확도가 아닌 증분 손익 극대화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754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데이터 셋 소개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24401"/>
            <a:ext cx="7556421" cy="3629739"/>
          </a:xfrm>
          <a:prstGeom prst="roundRect">
            <a:avLst>
              <a:gd name="adj" fmla="val 93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801410" y="2832021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1028224" y="297572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데이터 출처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02624" y="297572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Kaggle Telco Customer Churn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01410" y="3482340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028224" y="362604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샘플 수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02624" y="362604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7,043개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01410" y="4132659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028224" y="427636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변수 수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02624" y="427636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21개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801410" y="4782979"/>
            <a:ext cx="75411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1028224" y="4926687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주요 변수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802624" y="4926687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tenure, MonthlyCharges, Contract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801410" y="5796201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1028224" y="593990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이탈률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4802624" y="593990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약 26% (불균형)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5065633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전처리 프로세스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26087" y="179808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결측치 처리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2026087" y="2236113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TotalCharges → 숫자 변환 후 NaN 제거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26087" y="301382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인코딩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2026087" y="3451860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범주형: One-Hot Encoding (+ </a:t>
            </a:r>
            <a:r>
              <a:rPr lang="en-US" sz="15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drop_first</a:t>
            </a: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) : </a:t>
            </a:r>
            <a:r>
              <a:rPr lang="en-US" sz="15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InternetService</a:t>
            </a: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Contract, </a:t>
            </a:r>
            <a:r>
              <a:rPr lang="en-US" sz="15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PaymentMethod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26087" y="4229576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표준화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2026087" y="4667607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수치형 </a:t>
            </a:r>
            <a:r>
              <a:rPr lang="en-US" sz="15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변수</a:t>
            </a: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5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스케일링</a:t>
            </a: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: tenure, </a:t>
            </a:r>
            <a:r>
              <a:rPr lang="en-US" sz="15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MonthlyCharges</a:t>
            </a: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r>
              <a:rPr lang="en-US" sz="15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TotalCharges</a:t>
            </a: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r>
              <a:rPr lang="en-US" sz="15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AvgCharges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26087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클래스 균형화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2026087" y="5883354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다운샘플링으로 1:1 균형 조정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26087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파생 변수 생성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2026087" y="7099102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AvgCharges, HasInternet 등 추가</a:t>
            </a:r>
            <a:endParaRPr lang="en-US" sz="155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98F3975-3484-115E-3B23-2CACB8666C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4982" y="6225421"/>
            <a:ext cx="3305636" cy="20005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모델 구축 개요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952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알고리즘 선택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42692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Logistic Regression, RandomForest, XGBoost, LightGBM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731" y="3176588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952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하이퍼파라미터 검색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442692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GridSearchCV와 Optuna Bayesian Optimization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604" y="3565088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5862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모델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6076712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총 8개 모델(4 × 2)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103" y="5790962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5862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검증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6076712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5-Fold CV로 성능 평가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230" y="5402461"/>
            <a:ext cx="339328" cy="42422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C66B2BF-44A1-7D3B-E2BD-0D2FBE1110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58750" y="7214157"/>
            <a:ext cx="1671868" cy="10117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0D395-9131-3B6D-D9A7-1707B4C3B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2663F2-0B9F-6E40-CE90-DBBFE030AC5C}"/>
              </a:ext>
            </a:extLst>
          </p:cNvPr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>
              <a:latin typeface="Gelasio Semi Bold" panose="020B0600000101010101" charset="0"/>
              <a:cs typeface="Gelasio Semi Bold" panose="020B0600000101010101" charset="0"/>
            </a:endParaRP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A5F77F43-D6E1-FF25-C182-0CB8F85EDC37}"/>
              </a:ext>
            </a:extLst>
          </p:cNvPr>
          <p:cNvSpPr/>
          <p:nvPr/>
        </p:nvSpPr>
        <p:spPr>
          <a:xfrm>
            <a:off x="946190" y="14035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알고리즘 선택</a:t>
            </a:r>
            <a:endParaRPr lang="en-US" sz="445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DA60A416-1C7D-945F-F39E-E47EE0727DD4}"/>
              </a:ext>
            </a:extLst>
          </p:cNvPr>
          <p:cNvSpPr/>
          <p:nvPr/>
        </p:nvSpPr>
        <p:spPr>
          <a:xfrm>
            <a:off x="2887836" y="3184426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2C54ED20-25A4-28C2-4B48-03AF921F6323}"/>
              </a:ext>
            </a:extLst>
          </p:cNvPr>
          <p:cNvSpPr/>
          <p:nvPr/>
        </p:nvSpPr>
        <p:spPr>
          <a:xfrm>
            <a:off x="1644610" y="22081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2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3B07C52-FF5A-58B7-96CA-FE25DFFD3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391700"/>
              </p:ext>
            </p:extLst>
          </p:nvPr>
        </p:nvGraphicFramePr>
        <p:xfrm>
          <a:off x="1205896" y="2460793"/>
          <a:ext cx="12218608" cy="3885851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985855">
                  <a:extLst>
                    <a:ext uri="{9D8B030D-6E8A-4147-A177-3AD203B41FA5}">
                      <a16:colId xmlns:a16="http://schemas.microsoft.com/office/drawing/2014/main" val="3222683393"/>
                    </a:ext>
                  </a:extLst>
                </a:gridCol>
                <a:gridCol w="2985855">
                  <a:extLst>
                    <a:ext uri="{9D8B030D-6E8A-4147-A177-3AD203B41FA5}">
                      <a16:colId xmlns:a16="http://schemas.microsoft.com/office/drawing/2014/main" val="3481658572"/>
                    </a:ext>
                  </a:extLst>
                </a:gridCol>
                <a:gridCol w="3261043">
                  <a:extLst>
                    <a:ext uri="{9D8B030D-6E8A-4147-A177-3AD203B41FA5}">
                      <a16:colId xmlns:a16="http://schemas.microsoft.com/office/drawing/2014/main" val="3748401080"/>
                    </a:ext>
                  </a:extLst>
                </a:gridCol>
                <a:gridCol w="2985855">
                  <a:extLst>
                    <a:ext uri="{9D8B030D-6E8A-4147-A177-3AD203B41FA5}">
                      <a16:colId xmlns:a16="http://schemas.microsoft.com/office/drawing/2014/main" val="2596803235"/>
                    </a:ext>
                  </a:extLst>
                </a:gridCol>
              </a:tblGrid>
              <a:tr h="5025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rgbClr val="746558"/>
                          </a:solidFill>
                          <a:latin typeface="Gelasio" pitchFamily="34" charset="0"/>
                          <a:cs typeface="Gelasio" pitchFamily="34" charset="-120"/>
                        </a:rPr>
                        <a:t>Logistic Regression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746558"/>
                          </a:solidFill>
                          <a:latin typeface="Gelasio" pitchFamily="34" charset="0"/>
                          <a:cs typeface="Gelasio" pitchFamily="34" charset="-120"/>
                        </a:rPr>
                        <a:t>Random Forest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solidFill>
                            <a:srgbClr val="746558"/>
                          </a:solidFill>
                          <a:latin typeface="Gelasio" pitchFamily="34" charset="0"/>
                          <a:cs typeface="Gelasio" pitchFamily="34" charset="-120"/>
                        </a:rPr>
                        <a:t>XGBoost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solidFill>
                            <a:srgbClr val="746558"/>
                          </a:solidFill>
                          <a:latin typeface="Gelasio" pitchFamily="34" charset="0"/>
                          <a:cs typeface="Gelasio" pitchFamily="34" charset="-120"/>
                        </a:rPr>
                        <a:t>LightGBM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687676"/>
                  </a:ext>
                </a:extLst>
              </a:tr>
              <a:tr h="108660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주로 샘플이 특정 클래스에 속할 확률을 추정하는데 사용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kern="1200" dirty="0" err="1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시그모이드</a:t>
                      </a: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 함수 이용 </a:t>
                      </a:r>
                      <a:r>
                        <a:rPr lang="ko-KR" altLang="en-US" sz="1800" kern="1200" dirty="0" err="1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확률값</a:t>
                      </a: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 변환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계수를 통해 변수 영향 </a:t>
                      </a:r>
                      <a:r>
                        <a:rPr lang="ko-KR" altLang="en-US" sz="1800" kern="1200" dirty="0" err="1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어느정도인지</a:t>
                      </a: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 해석 가능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복잡한 비선형 관계 반영 어려움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여러 개의 의사 결정 나무 랜덤하게 만들어 결과 앙상블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과대적합에 강함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비선형 구조나 복잡한 데이터에 좋은 성능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해석이 어려움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메모리 사용량이 큼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Gradient Boosting </a:t>
                      </a: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기반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병렬 처리를 통한 속도 향상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kern="1200" dirty="0" err="1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결측치</a:t>
                      </a: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 처리에 강점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Gradient Boosting </a:t>
                      </a: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기반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Leaf-wise method </a:t>
                      </a: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방식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적은 자원</a:t>
                      </a:r>
                      <a:r>
                        <a:rPr lang="en-US" altLang="ko-KR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빠른 대용량 처리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ko-KR" altLang="en-US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6135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BF27473F-E1B7-712D-7BEE-48EEECB4A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0" y="7214157"/>
            <a:ext cx="1671868" cy="101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52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6608E-A06D-8DE5-7044-F44FEBE01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92EB19-43A3-62D9-5409-61D103A021E0}"/>
              </a:ext>
            </a:extLst>
          </p:cNvPr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>
              <a:latin typeface="Gelasio Semi Bold" panose="020B0600000101010101" charset="0"/>
              <a:cs typeface="Gelasio Semi Bold" panose="020B0600000101010101" charset="0"/>
            </a:endParaRP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F9F1736B-DE69-6095-9B33-82567EA943FE}"/>
              </a:ext>
            </a:extLst>
          </p:cNvPr>
          <p:cNvSpPr/>
          <p:nvPr/>
        </p:nvSpPr>
        <p:spPr>
          <a:xfrm>
            <a:off x="946190" y="14035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하이퍼</a:t>
            </a:r>
            <a:r>
              <a:rPr lang="ko-KR" alt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파라미터 탐색</a:t>
            </a:r>
            <a:endParaRPr lang="en-US" sz="445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00A9D8E4-6C31-2C27-06F4-FDEDF89D42A9}"/>
              </a:ext>
            </a:extLst>
          </p:cNvPr>
          <p:cNvSpPr/>
          <p:nvPr/>
        </p:nvSpPr>
        <p:spPr>
          <a:xfrm>
            <a:off x="2887836" y="3184426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91846B4E-B09F-83A0-035C-DAEADEA704A3}"/>
              </a:ext>
            </a:extLst>
          </p:cNvPr>
          <p:cNvSpPr/>
          <p:nvPr/>
        </p:nvSpPr>
        <p:spPr>
          <a:xfrm>
            <a:off x="1292185" y="217944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24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적용 방식</a:t>
            </a:r>
            <a:endParaRPr lang="en-US" sz="2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DEA9CE8-FEDB-A010-726C-1FE3D739A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529694"/>
              </p:ext>
            </p:extLst>
          </p:nvPr>
        </p:nvGraphicFramePr>
        <p:xfrm>
          <a:off x="1493663" y="3040625"/>
          <a:ext cx="11943420" cy="2514251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971710">
                  <a:extLst>
                    <a:ext uri="{9D8B030D-6E8A-4147-A177-3AD203B41FA5}">
                      <a16:colId xmlns:a16="http://schemas.microsoft.com/office/drawing/2014/main" val="3222683393"/>
                    </a:ext>
                  </a:extLst>
                </a:gridCol>
                <a:gridCol w="5971710">
                  <a:extLst>
                    <a:ext uri="{9D8B030D-6E8A-4147-A177-3AD203B41FA5}">
                      <a16:colId xmlns:a16="http://schemas.microsoft.com/office/drawing/2014/main" val="3748401080"/>
                    </a:ext>
                  </a:extLst>
                </a:gridCol>
              </a:tblGrid>
              <a:tr h="5025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solidFill>
                            <a:srgbClr val="746558"/>
                          </a:solidFill>
                          <a:latin typeface="Gelasio" pitchFamily="34" charset="0"/>
                          <a:cs typeface="Gelasio" pitchFamily="34" charset="-120"/>
                        </a:rPr>
                        <a:t>GridSearchCV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solidFill>
                            <a:srgbClr val="746558"/>
                          </a:solidFill>
                          <a:latin typeface="Gelasio" pitchFamily="34" charset="0"/>
                          <a:cs typeface="Gelasio" pitchFamily="34" charset="-120"/>
                        </a:rPr>
                        <a:t>Optuna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687676"/>
                  </a:ext>
                </a:extLst>
              </a:tr>
              <a:tr h="108660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모든 조합을 완전 탐색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조합수가 많을 수록 속도 느림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파라미터를 고정된 범위로 지정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베이지안 최적화 기반 탐색</a:t>
                      </a:r>
                      <a:endParaRPr lang="en-US" altLang="ko-KR" sz="1800" dirty="0">
                        <a:solidFill>
                          <a:srgbClr val="746558"/>
                        </a:solidFill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불필요한 탐색을 줄여 속도 빠름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연속적인 값 포함 가능</a:t>
                      </a: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800" kern="1200" dirty="0">
                        <a:solidFill>
                          <a:srgbClr val="746558"/>
                        </a:solidFill>
                        <a:effectLst/>
                        <a:latin typeface="Gelasio" pitchFamily="34" charset="0"/>
                        <a:ea typeface="Gelasio" pitchFamily="34" charset="-122"/>
                        <a:cs typeface="Gelasio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Objective </a:t>
                      </a:r>
                      <a:r>
                        <a:rPr lang="ko-KR" altLang="en-US" sz="1800" kern="1200" dirty="0">
                          <a:solidFill>
                            <a:srgbClr val="746558"/>
                          </a:solidFill>
                          <a:effectLst/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함수 정의하여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6135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827DEC81-73CA-1593-8143-10365351B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4982" y="6225421"/>
            <a:ext cx="3305636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626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3300D-2BE3-8B16-3846-3D0F25E41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3A8D27C-FF82-4D58-7D01-3600538A4B1E}"/>
              </a:ext>
            </a:extLst>
          </p:cNvPr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>
              <a:latin typeface="Gelasio Semi Bold" panose="020B0600000101010101" charset="0"/>
              <a:cs typeface="Gelasio Semi Bold" panose="020B0600000101010101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36FF85-AAF4-B205-141D-169C4430A09C}"/>
              </a:ext>
            </a:extLst>
          </p:cNvPr>
          <p:cNvSpPr/>
          <p:nvPr/>
        </p:nvSpPr>
        <p:spPr>
          <a:xfrm>
            <a:off x="1777992" y="24102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altLang="ko-KR" sz="2400" dirty="0">
                <a:latin typeface="Gelasio Semi Bold" panose="020B0600000101010101" charset="0"/>
                <a:cs typeface="Gelasio Semi Bold" panose="020B0600000101010101" charset="0"/>
              </a:rPr>
              <a:t>Stratified 5-fold CV</a:t>
            </a:r>
            <a:endParaRPr lang="en-US" sz="2200" dirty="0">
              <a:latin typeface="Gelasio Semi Bold" panose="020B0600000101010101" charset="0"/>
              <a:cs typeface="Gelasio Semi Bold" panose="020B0600000101010101" charset="0"/>
            </a:endParaRP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BF0FB07A-203B-80B7-B0F9-DA5D00356E22}"/>
              </a:ext>
            </a:extLst>
          </p:cNvPr>
          <p:cNvSpPr/>
          <p:nvPr/>
        </p:nvSpPr>
        <p:spPr>
          <a:xfrm>
            <a:off x="946190" y="14035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검증</a:t>
            </a:r>
            <a:endParaRPr lang="en-US" sz="445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55B46F17-CC6F-D675-75D8-9A28F7CE94B6}"/>
              </a:ext>
            </a:extLst>
          </p:cNvPr>
          <p:cNvSpPr/>
          <p:nvPr/>
        </p:nvSpPr>
        <p:spPr>
          <a:xfrm>
            <a:off x="2887836" y="3184426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1F6EAE-11D3-D941-26FB-9807D6B03E68}"/>
              </a:ext>
            </a:extLst>
          </p:cNvPr>
          <p:cNvSpPr txBox="1"/>
          <p:nvPr/>
        </p:nvSpPr>
        <p:spPr>
          <a:xfrm>
            <a:off x="1863699" y="3184425"/>
            <a:ext cx="10270243" cy="304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850"/>
              </a:lnSpc>
              <a:buFontTx/>
              <a:buChar char="-"/>
            </a:pPr>
            <a:r>
              <a:rPr lang="ko-KR" altLang="en-US" sz="1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라벨 비율을 유지한 채 </a:t>
            </a:r>
            <a:r>
              <a:rPr lang="en-US" altLang="ko-KR" sz="1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fold</a:t>
            </a:r>
            <a:r>
              <a:rPr lang="ko-KR" altLang="en-US" sz="1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하는 방식</a:t>
            </a:r>
            <a:endParaRPr lang="en-US" altLang="ko-KR" sz="180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>
              <a:lnSpc>
                <a:spcPts val="2850"/>
              </a:lnSpc>
            </a:pPr>
            <a:endParaRPr lang="en-US" altLang="ko-KR" sz="180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285750" indent="-285750">
              <a:lnSpc>
                <a:spcPts val="2850"/>
              </a:lnSpc>
              <a:buFontTx/>
              <a:buChar char="-"/>
            </a:pPr>
            <a:r>
              <a:rPr lang="ko-KR" altLang="en-US" sz="1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데이터 수가 부족한 상황에서 </a:t>
            </a:r>
            <a:r>
              <a:rPr lang="ko-KR" alt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데이터를 최대한 효율적으로 활용할 필요성 有</a:t>
            </a:r>
            <a:endParaRPr lang="en-US" altLang="ko-KR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285750" indent="-285750">
              <a:lnSpc>
                <a:spcPts val="2850"/>
              </a:lnSpc>
              <a:buFontTx/>
              <a:buChar char="-"/>
            </a:pPr>
            <a:endParaRPr lang="en-US" altLang="ko-KR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285750" indent="-285750">
              <a:lnSpc>
                <a:spcPts val="2850"/>
              </a:lnSpc>
              <a:buFontTx/>
              <a:buChar char="-"/>
            </a:pPr>
            <a:r>
              <a:rPr lang="ko-KR" altLang="en-US" sz="1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전체 데이터를 나누어 반복 평가하는 교차 검증 </a:t>
            </a:r>
            <a:r>
              <a:rPr lang="ko-KR" alt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사용</a:t>
            </a:r>
            <a:endParaRPr lang="en-US" altLang="ko-KR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285750" indent="-285750">
              <a:lnSpc>
                <a:spcPts val="2850"/>
              </a:lnSpc>
              <a:buFontTx/>
              <a:buChar char="-"/>
            </a:pPr>
            <a:endParaRPr lang="en-US" altLang="ko-KR" sz="180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285750" indent="-285750">
              <a:lnSpc>
                <a:spcPts val="2850"/>
              </a:lnSpc>
              <a:buFontTx/>
              <a:buChar char="-"/>
            </a:pPr>
            <a:r>
              <a:rPr lang="ko-KR" altLang="en-US" sz="1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안정적이고 신뢰할 수 있는 모델 평가 수행 가능</a:t>
            </a:r>
            <a:endParaRPr lang="en-US" altLang="ko-KR" sz="180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285750" indent="-285750">
              <a:lnSpc>
                <a:spcPts val="2850"/>
              </a:lnSpc>
              <a:buFontTx/>
              <a:buChar char="-"/>
            </a:pPr>
            <a:endParaRPr lang="en-US" altLang="ko-KR" sz="180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F44946-42DC-43C5-72E1-259E48C86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0" y="7214157"/>
            <a:ext cx="1671868" cy="101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608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8A9F083-D54F-598A-C789-DA09A5140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41318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9EF2E9D-5A37-B983-A52B-357ADDF3E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84" y="2152649"/>
            <a:ext cx="5762654" cy="456247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D33B748-7471-795C-ADAF-70AF061D3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8750" y="7214157"/>
            <a:ext cx="1671868" cy="10117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41425" cy="82296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7AAD4C4-BA4D-7894-AC56-1EA698F54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750" y="7214157"/>
            <a:ext cx="1671868" cy="10117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41425" cy="82296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BA84354-EB1B-4FCC-115B-F51FFE214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750" y="7214157"/>
            <a:ext cx="1671868" cy="10117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216" y="610314"/>
            <a:ext cx="5537359" cy="69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경영적 이익 함수 설계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881" y="1745337"/>
            <a:ext cx="1618536" cy="127611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9296" y="2346841"/>
            <a:ext cx="311468" cy="38933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75873" y="1966793"/>
            <a:ext cx="2203490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최적 임계값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075873" y="2445663"/>
            <a:ext cx="22034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0.12에서 최대 이익 달성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4909780" y="3033832"/>
            <a:ext cx="8890040" cy="15240"/>
          </a:xfrm>
          <a:prstGeom prst="roundRect">
            <a:avLst>
              <a:gd name="adj" fmla="val 218008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6494" y="3076813"/>
            <a:ext cx="3237190" cy="1276112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9296" y="3520202"/>
            <a:ext cx="311468" cy="38933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85140" y="3298269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이익 계산식</a:t>
            </a:r>
            <a:endParaRPr lang="en-US" sz="2150" dirty="0"/>
          </a:p>
        </p:txBody>
      </p:sp>
      <p:sp>
        <p:nvSpPr>
          <p:cNvPr id="11" name="Text 5"/>
          <p:cNvSpPr/>
          <p:nvPr/>
        </p:nvSpPr>
        <p:spPr>
          <a:xfrm>
            <a:off x="5885140" y="3777139"/>
            <a:ext cx="38389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ΔProfit = TP × 가치식 + FP × (−15,000)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5719048" y="4365308"/>
            <a:ext cx="8080772" cy="15240"/>
          </a:xfrm>
          <a:prstGeom prst="roundRect">
            <a:avLst>
              <a:gd name="adj" fmla="val 218008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7226" y="4408289"/>
            <a:ext cx="4855845" cy="1276112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9296" y="4851678"/>
            <a:ext cx="311468" cy="38933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94527" y="4629745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기대값 모델링</a:t>
            </a:r>
            <a:endParaRPr lang="en-US" sz="2150" dirty="0"/>
          </a:p>
        </p:txBody>
      </p:sp>
      <p:sp>
        <p:nvSpPr>
          <p:cNvPr id="16" name="Text 8"/>
          <p:cNvSpPr/>
          <p:nvPr/>
        </p:nvSpPr>
        <p:spPr>
          <a:xfrm>
            <a:off x="6694527" y="5108615"/>
            <a:ext cx="62611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가치식: −15,000(마케팅비용)+0.3(잔류확률) × 240,000(잔류가치)</a:t>
            </a:r>
            <a:endParaRPr lang="en-US" sz="1700" dirty="0"/>
          </a:p>
        </p:txBody>
      </p:sp>
      <p:sp>
        <p:nvSpPr>
          <p:cNvPr id="17" name="Shape 9"/>
          <p:cNvSpPr/>
          <p:nvPr/>
        </p:nvSpPr>
        <p:spPr>
          <a:xfrm>
            <a:off x="6528435" y="5696783"/>
            <a:ext cx="7271385" cy="15240"/>
          </a:xfrm>
          <a:prstGeom prst="roundRect">
            <a:avLst>
              <a:gd name="adj" fmla="val 218008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839" y="5739765"/>
            <a:ext cx="6474500" cy="1276112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9296" y="6183154"/>
            <a:ext cx="311468" cy="38933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503795" y="5961221"/>
            <a:ext cx="1863804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기준선 설정</a:t>
            </a:r>
            <a:endParaRPr lang="en-US" sz="2150" dirty="0"/>
          </a:p>
        </p:txBody>
      </p:sp>
      <p:sp>
        <p:nvSpPr>
          <p:cNvPr id="21" name="Text 11"/>
          <p:cNvSpPr/>
          <p:nvPr/>
        </p:nvSpPr>
        <p:spPr>
          <a:xfrm>
            <a:off x="7503795" y="6440091"/>
            <a:ext cx="18638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캠페인 미집행 = 0원</a:t>
            </a:r>
            <a:endParaRPr lang="en-US" sz="1700" dirty="0"/>
          </a:p>
        </p:txBody>
      </p:sp>
      <p:sp>
        <p:nvSpPr>
          <p:cNvPr id="22" name="Text 12"/>
          <p:cNvSpPr/>
          <p:nvPr/>
        </p:nvSpPr>
        <p:spPr>
          <a:xfrm>
            <a:off x="775216" y="7264956"/>
            <a:ext cx="130799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임계값 0.10-0.90 범위를 스캔하여 최적 지점을 찾았습니다.</a:t>
            </a:r>
            <a:endParaRPr lang="en-US" sz="17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B559D87-8367-11E1-8E2A-63FA54278B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58750" y="7214157"/>
            <a:ext cx="1671868" cy="101179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7937" y="501253"/>
            <a:ext cx="4557355" cy="569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경영적 이익 함수 설계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37937" y="1508284"/>
            <a:ext cx="562701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profit maximize 모델(threshold=0.12)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37" y="2004893"/>
            <a:ext cx="5627013" cy="45633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7937" y="6773228"/>
            <a:ext cx="2734389" cy="341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이익: 439,060,000원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717149" y="1508284"/>
            <a:ext cx="7282815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baseline 모델(threshold=0.5) </a:t>
            </a:r>
            <a:endParaRPr lang="en-US" sz="2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857" y="2055257"/>
            <a:ext cx="5655493" cy="45364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17148" y="6773228"/>
            <a:ext cx="2734389" cy="341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이익: 373,900,000원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637937" y="7502366"/>
            <a:ext cx="13354526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37937" y="7998976"/>
            <a:ext cx="13354526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767123E-1F3D-D8FA-AA55-FF525573C6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8750" y="7214157"/>
            <a:ext cx="1671868" cy="10117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A315-988D-9BA3-520E-383FAD733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5">
            <a:extLst>
              <a:ext uri="{FF2B5EF4-FFF2-40B4-BE49-F238E27FC236}">
                <a16:creationId xmlns:a16="http://schemas.microsoft.com/office/drawing/2014/main" id="{7D880AFB-33C1-164E-50C8-370E325D2FE9}"/>
              </a:ext>
            </a:extLst>
          </p:cNvPr>
          <p:cNvSpPr/>
          <p:nvPr/>
        </p:nvSpPr>
        <p:spPr>
          <a:xfrm>
            <a:off x="637937" y="7502366"/>
            <a:ext cx="13354526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357D3FD-17D3-6D9E-B976-ED26F349C1AE}"/>
              </a:ext>
            </a:extLst>
          </p:cNvPr>
          <p:cNvSpPr/>
          <p:nvPr/>
        </p:nvSpPr>
        <p:spPr>
          <a:xfrm>
            <a:off x="637937" y="7998976"/>
            <a:ext cx="13354526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E8E7C927-3BDF-E5B0-6593-B893E73643FC}"/>
              </a:ext>
            </a:extLst>
          </p:cNvPr>
          <p:cNvSpPr/>
          <p:nvPr/>
        </p:nvSpPr>
        <p:spPr>
          <a:xfrm>
            <a:off x="4585335" y="4114800"/>
            <a:ext cx="5459730" cy="221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88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감사합니다</a:t>
            </a:r>
            <a:endParaRPr lang="en-US" sz="8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2E3D067-157B-8F59-1A4B-880DDBBBB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0" y="7214157"/>
            <a:ext cx="1671868" cy="101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79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488</Words>
  <Application>Microsoft Office PowerPoint</Application>
  <PresentationFormat>사용자 지정</PresentationFormat>
  <Paragraphs>143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Gelasio Semi Bold</vt:lpstr>
      <vt:lpstr>Gelasio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강성준</cp:lastModifiedBy>
  <cp:revision>4</cp:revision>
  <dcterms:created xsi:type="dcterms:W3CDTF">2025-06-04T10:37:26Z</dcterms:created>
  <dcterms:modified xsi:type="dcterms:W3CDTF">2025-06-04T12:45:19Z</dcterms:modified>
</cp:coreProperties>
</file>